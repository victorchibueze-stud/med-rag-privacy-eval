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5" r:id="rId5"/>
    <p:sldMasterId id="2147483686" r:id="rId6"/>
    <p:sldMasterId id="214748368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1C9F62-F332-4EA4-8CF7-E61C887B0957}">
  <a:tblStyle styleId="{B41C9F62-F332-4EA4-8CF7-E61C887B095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Arial"/>
          <a:ea typeface="Arial"/>
          <a:cs typeface="Arial"/>
        </a:font>
        <a:schemeClr val="dk1"/>
      </a:tcTxStyle>
    </a:seCell>
    <a:swCell>
      <a:tcTxStyle b="on" i="off">
        <a:font>
          <a:latin typeface="Arial"/>
          <a:ea typeface="Arial"/>
          <a:cs typeface="Arial"/>
        </a:font>
        <a:schemeClr val="dk1"/>
      </a:tcTx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b81ba21e4_2_91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8b81ba21e4_2_91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b81ba21e4_2_97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8b81ba21e4_2_97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b81ba21e4_2_115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8b81ba21e4_2_115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8e43aeb62_0_105:notes"/>
          <p:cNvSpPr txBox="1"/>
          <p:nvPr>
            <p:ph idx="1" type="body"/>
          </p:nvPr>
        </p:nvSpPr>
        <p:spPr>
          <a:xfrm>
            <a:off x="685800" y="4343405"/>
            <a:ext cx="5486400" cy="4114800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e8e43aeb62_0_105:notes"/>
          <p:cNvSpPr/>
          <p:nvPr>
            <p:ph idx="2" type="sldImg"/>
          </p:nvPr>
        </p:nvSpPr>
        <p:spPr>
          <a:xfrm>
            <a:off x="134952" y="686475"/>
            <a:ext cx="65880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b81ba21e4_2_138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8b81ba21e4_2_138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b81ba21e4_2_146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8b81ba21e4_2_146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b81ba21e4_2_155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8b81ba21e4_2_155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b81ba21e4_2_164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8b81ba21e4_2_164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8b81ba21e4_2_173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8b81ba21e4_2_173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b81ba21e4_2_182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8b81ba21e4_2_182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b81ba21e4_2_191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8b81ba21e4_2_191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8b81ba21e4_2_199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8b81ba21e4_2_199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b81ba21e4_2_208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8b81ba21e4_2_208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8b81ba21e4_2_216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8b81ba21e4_2_216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b81ba21e4_2_224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8b81ba21e4_2_224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8b81ba21e4_2_232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8b81ba21e4_2_232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8b81ba21e4_2_240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8b81ba21e4_2_240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8b81ba21e4_2_250:notes"/>
          <p:cNvSpPr txBox="1"/>
          <p:nvPr>
            <p:ph idx="1" type="body"/>
          </p:nvPr>
        </p:nvSpPr>
        <p:spPr>
          <a:xfrm>
            <a:off x="685800" y="4343405"/>
            <a:ext cx="5486400" cy="4114805"/>
          </a:xfrm>
          <a:prstGeom prst="rect">
            <a:avLst/>
          </a:prstGeom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8b81ba21e4_2_250:notes"/>
          <p:cNvSpPr/>
          <p:nvPr>
            <p:ph idx="2" type="sldImg"/>
          </p:nvPr>
        </p:nvSpPr>
        <p:spPr>
          <a:xfrm>
            <a:off x="134952" y="686475"/>
            <a:ext cx="6588097" cy="342811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1" y="160735"/>
            <a:ext cx="8982900" cy="368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1099" y="303498"/>
            <a:ext cx="1284277" cy="57816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ctrTitle"/>
          </p:nvPr>
        </p:nvSpPr>
        <p:spPr>
          <a:xfrm>
            <a:off x="629100" y="1032272"/>
            <a:ext cx="5571192" cy="78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eorgia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629100" y="1923678"/>
            <a:ext cx="6800850" cy="243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1322" y="347960"/>
            <a:ext cx="1015397" cy="631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01">
          <p15:clr>
            <a:srgbClr val="FBAE40"/>
          </p15:clr>
        </p15:guide>
        <p15:guide id="2" pos="5657">
          <p15:clr>
            <a:srgbClr val="FBAE40"/>
          </p15:clr>
        </p15:guide>
        <p15:guide id="3" orient="horz" pos="3137">
          <p15:clr>
            <a:srgbClr val="FBAE40"/>
          </p15:clr>
        </p15:guide>
        <p15:guide id="4" pos="102">
          <p15:clr>
            <a:srgbClr val="FBAE40"/>
          </p15:clr>
        </p15:guide>
        <p15:guide id="5" orient="horz" pos="203">
          <p15:clr>
            <a:srgbClr val="FBAE40"/>
          </p15:clr>
        </p15:guide>
        <p15:guide id="6" pos="39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e, mittig">
  <p:cSld name="Titel und Inhalte, mittig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871100" y="1142100"/>
            <a:ext cx="5400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3 Inhalte">
  <p:cSld name="Titel und 3 Inhalt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251100" y="1142100"/>
            <a:ext cx="2808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6083100" y="1140620"/>
            <a:ext cx="2808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3" type="body"/>
          </p:nvPr>
        </p:nvSpPr>
        <p:spPr>
          <a:xfrm>
            <a:off x="3167100" y="1140620"/>
            <a:ext cx="2808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51520" y="303610"/>
            <a:ext cx="864096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mit Bild" showMasterSp="0">
  <p:cSld name="Titelfolie mit Bild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>
            <a:off x="0" y="159544"/>
            <a:ext cx="8982075" cy="2088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1925" y="303498"/>
            <a:ext cx="1283371" cy="57775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>
            <p:ph type="ctrTitle"/>
          </p:nvPr>
        </p:nvSpPr>
        <p:spPr>
          <a:xfrm>
            <a:off x="629100" y="1032272"/>
            <a:ext cx="5463180" cy="78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eorgia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629100" y="1923678"/>
            <a:ext cx="6800850" cy="243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2" type="pic"/>
          </p:nvPr>
        </p:nvSpPr>
        <p:spPr>
          <a:xfrm>
            <a:off x="161925" y="2247902"/>
            <a:ext cx="8820150" cy="2731292"/>
          </a:xfrm>
          <a:prstGeom prst="rect">
            <a:avLst/>
          </a:prstGeom>
          <a:noFill/>
          <a:ln>
            <a:noFill/>
          </a:ln>
        </p:spPr>
      </p:sp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8432" y="334800"/>
            <a:ext cx="1034668" cy="643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02">
          <p15:clr>
            <a:srgbClr val="FBAE40"/>
          </p15:clr>
        </p15:guide>
        <p15:guide id="2" orient="horz" pos="101">
          <p15:clr>
            <a:srgbClr val="FBAE40"/>
          </p15:clr>
        </p15:guide>
        <p15:guide id="3" orient="horz" pos="3137">
          <p15:clr>
            <a:srgbClr val="FBAE40"/>
          </p15:clr>
        </p15:guide>
        <p15:guide id="4" pos="5658">
          <p15:clr>
            <a:srgbClr val="FBAE40"/>
          </p15:clr>
        </p15:guide>
        <p15:guide id="5" orient="horz" pos="20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251100" y="1140620"/>
            <a:ext cx="864138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2 Inhalte">
  <p:cSld name="Titel und 2 Inhalt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251100" y="1142100"/>
            <a:ext cx="4266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4625100" y="1140620"/>
            <a:ext cx="4266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Legende">
  <p:cSld name="Bild mit Legend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251520" y="303610"/>
            <a:ext cx="864096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7" name="Google Shape;107;p21"/>
          <p:cNvSpPr/>
          <p:nvPr>
            <p:ph idx="2" type="pic"/>
          </p:nvPr>
        </p:nvSpPr>
        <p:spPr>
          <a:xfrm>
            <a:off x="251100" y="1140618"/>
            <a:ext cx="6373538" cy="2970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6732480" y="1140620"/>
            <a:ext cx="2160000" cy="2969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Bilder">
  <p:cSld name="2 Bil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251520" y="303610"/>
            <a:ext cx="864096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4" name="Google Shape;114;p22"/>
          <p:cNvSpPr/>
          <p:nvPr>
            <p:ph idx="2" type="pic"/>
          </p:nvPr>
        </p:nvSpPr>
        <p:spPr>
          <a:xfrm>
            <a:off x="251101" y="1140618"/>
            <a:ext cx="4266000" cy="19440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2"/>
          <p:cNvSpPr/>
          <p:nvPr>
            <p:ph idx="3" type="pic"/>
          </p:nvPr>
        </p:nvSpPr>
        <p:spPr>
          <a:xfrm>
            <a:off x="4625100" y="1140619"/>
            <a:ext cx="4266000" cy="19440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251099" y="3165816"/>
            <a:ext cx="4266000" cy="137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4" type="body"/>
          </p:nvPr>
        </p:nvSpPr>
        <p:spPr>
          <a:xfrm>
            <a:off x="4625100" y="3165816"/>
            <a:ext cx="4266000" cy="137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Bilder">
  <p:cSld name="3 Bild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251520" y="303610"/>
            <a:ext cx="864096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23"/>
          <p:cNvSpPr/>
          <p:nvPr>
            <p:ph idx="2" type="pic"/>
          </p:nvPr>
        </p:nvSpPr>
        <p:spPr>
          <a:xfrm>
            <a:off x="251100" y="1140618"/>
            <a:ext cx="2808000" cy="2457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251100" y="3676286"/>
            <a:ext cx="2808000" cy="86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3"/>
          <p:cNvSpPr/>
          <p:nvPr>
            <p:ph idx="3" type="pic"/>
          </p:nvPr>
        </p:nvSpPr>
        <p:spPr>
          <a:xfrm>
            <a:off x="3168156" y="1140619"/>
            <a:ext cx="2808000" cy="24570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3"/>
          <p:cNvSpPr txBox="1"/>
          <p:nvPr>
            <p:ph idx="4" type="body"/>
          </p:nvPr>
        </p:nvSpPr>
        <p:spPr>
          <a:xfrm>
            <a:off x="3164399" y="3676287"/>
            <a:ext cx="2808000" cy="86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5" type="pic"/>
          </p:nvPr>
        </p:nvSpPr>
        <p:spPr>
          <a:xfrm>
            <a:off x="6084480" y="1143205"/>
            <a:ext cx="2808000" cy="24570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6" type="body"/>
          </p:nvPr>
        </p:nvSpPr>
        <p:spPr>
          <a:xfrm>
            <a:off x="6085800" y="3678873"/>
            <a:ext cx="2808000" cy="86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(gross)">
  <p:cSld name="Bild (gross)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24"/>
          <p:cNvSpPr/>
          <p:nvPr>
            <p:ph idx="2" type="pic"/>
          </p:nvPr>
        </p:nvSpPr>
        <p:spPr>
          <a:xfrm>
            <a:off x="251100" y="251100"/>
            <a:ext cx="8641380" cy="38340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251100" y="4166100"/>
            <a:ext cx="8641379" cy="459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(Vollfläche)" showMasterSp="0">
  <p:cSld name="Bild (Vollfläche)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 type="title">
  <p:cSld name="TITLE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/>
          <p:nvPr/>
        </p:nvSpPr>
        <p:spPr>
          <a:xfrm>
            <a:off x="1" y="160735"/>
            <a:ext cx="8982900" cy="368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1099" y="303498"/>
            <a:ext cx="1284277" cy="57816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>
            <p:ph type="ctrTitle"/>
          </p:nvPr>
        </p:nvSpPr>
        <p:spPr>
          <a:xfrm>
            <a:off x="629100" y="1032272"/>
            <a:ext cx="55713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eorgia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1" type="subTitle"/>
          </p:nvPr>
        </p:nvSpPr>
        <p:spPr>
          <a:xfrm>
            <a:off x="629100" y="1923678"/>
            <a:ext cx="6801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53" name="Google Shape;1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1322" y="347960"/>
            <a:ext cx="1015397" cy="631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01">
          <p15:clr>
            <a:srgbClr val="FBAE40"/>
          </p15:clr>
        </p15:guide>
        <p15:guide id="2" pos="5657">
          <p15:clr>
            <a:srgbClr val="FBAE40"/>
          </p15:clr>
        </p15:guide>
        <p15:guide id="3" orient="horz" pos="3137">
          <p15:clr>
            <a:srgbClr val="FBAE40"/>
          </p15:clr>
        </p15:guide>
        <p15:guide id="4" pos="102">
          <p15:clr>
            <a:srgbClr val="FBAE40"/>
          </p15:clr>
        </p15:guide>
        <p15:guide id="5" orient="horz" pos="203">
          <p15:clr>
            <a:srgbClr val="FBAE40"/>
          </p15:clr>
        </p15:guide>
        <p15:guide id="6" pos="39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e, mittig">
  <p:cSld name="Titel und Inhalte, mittig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251100" y="303610"/>
            <a:ext cx="8641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1871100" y="1142100"/>
            <a:ext cx="5400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29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9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3 Inhalte">
  <p:cSld name="Titel und 3 Inhalt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251100" y="303610"/>
            <a:ext cx="8641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251100" y="1142100"/>
            <a:ext cx="2808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30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30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6" name="Google Shape;166;p30"/>
          <p:cNvSpPr txBox="1"/>
          <p:nvPr>
            <p:ph idx="2" type="body"/>
          </p:nvPr>
        </p:nvSpPr>
        <p:spPr>
          <a:xfrm>
            <a:off x="6083100" y="1140620"/>
            <a:ext cx="2808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7" name="Google Shape;167;p30"/>
          <p:cNvSpPr txBox="1"/>
          <p:nvPr>
            <p:ph idx="3" type="body"/>
          </p:nvPr>
        </p:nvSpPr>
        <p:spPr>
          <a:xfrm>
            <a:off x="3167100" y="1140620"/>
            <a:ext cx="2808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251520" y="303610"/>
            <a:ext cx="864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1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mit Bild" showMasterSp="0">
  <p:cSld name="Titelfolie mit Bild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/>
          <p:nvPr/>
        </p:nvSpPr>
        <p:spPr>
          <a:xfrm>
            <a:off x="0" y="159544"/>
            <a:ext cx="8982000" cy="208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1925" y="303498"/>
            <a:ext cx="1283371" cy="57775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2"/>
          <p:cNvSpPr txBox="1"/>
          <p:nvPr>
            <p:ph type="ctrTitle"/>
          </p:nvPr>
        </p:nvSpPr>
        <p:spPr>
          <a:xfrm>
            <a:off x="629100" y="1032272"/>
            <a:ext cx="54633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eorgia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2"/>
          <p:cNvSpPr txBox="1"/>
          <p:nvPr>
            <p:ph idx="1" type="subTitle"/>
          </p:nvPr>
        </p:nvSpPr>
        <p:spPr>
          <a:xfrm>
            <a:off x="629100" y="1923678"/>
            <a:ext cx="6801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8" name="Google Shape;178;p32"/>
          <p:cNvSpPr/>
          <p:nvPr>
            <p:ph idx="2" type="pic"/>
          </p:nvPr>
        </p:nvSpPr>
        <p:spPr>
          <a:xfrm>
            <a:off x="161925" y="2247902"/>
            <a:ext cx="8820300" cy="27312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9" name="Google Shape;1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8432" y="334800"/>
            <a:ext cx="1034669" cy="643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02">
          <p15:clr>
            <a:srgbClr val="FBAE40"/>
          </p15:clr>
        </p15:guide>
        <p15:guide id="2" orient="horz" pos="101">
          <p15:clr>
            <a:srgbClr val="FBAE40"/>
          </p15:clr>
        </p15:guide>
        <p15:guide id="3" orient="horz" pos="3137">
          <p15:clr>
            <a:srgbClr val="FBAE40"/>
          </p15:clr>
        </p15:guide>
        <p15:guide id="4" pos="5658">
          <p15:clr>
            <a:srgbClr val="FBAE40"/>
          </p15:clr>
        </p15:guide>
        <p15:guide id="5" orient="horz" pos="20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251100" y="303610"/>
            <a:ext cx="8641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251100" y="1140620"/>
            <a:ext cx="86415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33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33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3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2 Inhalte">
  <p:cSld name="Titel und 2 Inhalte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251100" y="303610"/>
            <a:ext cx="8641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251100" y="1142100"/>
            <a:ext cx="4266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9" name="Google Shape;189;p34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4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2" name="Google Shape;192;p34"/>
          <p:cNvSpPr txBox="1"/>
          <p:nvPr>
            <p:ph idx="2" type="body"/>
          </p:nvPr>
        </p:nvSpPr>
        <p:spPr>
          <a:xfrm>
            <a:off x="4625100" y="1140620"/>
            <a:ext cx="4266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Legende">
  <p:cSld name="Bild mit Legende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251520" y="303610"/>
            <a:ext cx="864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8" name="Google Shape;198;p35"/>
          <p:cNvSpPr/>
          <p:nvPr>
            <p:ph idx="2" type="pic"/>
          </p:nvPr>
        </p:nvSpPr>
        <p:spPr>
          <a:xfrm>
            <a:off x="251100" y="1140618"/>
            <a:ext cx="6373500" cy="29700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6732480" y="1140620"/>
            <a:ext cx="21600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Bilder">
  <p:cSld name="2 Bilder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type="title"/>
          </p:nvPr>
        </p:nvSpPr>
        <p:spPr>
          <a:xfrm>
            <a:off x="251520" y="303610"/>
            <a:ext cx="864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36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36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" name="Google Shape;205;p36"/>
          <p:cNvSpPr/>
          <p:nvPr>
            <p:ph idx="2" type="pic"/>
          </p:nvPr>
        </p:nvSpPr>
        <p:spPr>
          <a:xfrm>
            <a:off x="251101" y="1140618"/>
            <a:ext cx="4266000" cy="1944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36"/>
          <p:cNvSpPr/>
          <p:nvPr>
            <p:ph idx="3" type="pic"/>
          </p:nvPr>
        </p:nvSpPr>
        <p:spPr>
          <a:xfrm>
            <a:off x="4625100" y="1140619"/>
            <a:ext cx="4266000" cy="19440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251099" y="3165816"/>
            <a:ext cx="426600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8" name="Google Shape;208;p36"/>
          <p:cNvSpPr txBox="1"/>
          <p:nvPr>
            <p:ph idx="4" type="body"/>
          </p:nvPr>
        </p:nvSpPr>
        <p:spPr>
          <a:xfrm>
            <a:off x="4625100" y="3165816"/>
            <a:ext cx="426600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Bilder">
  <p:cSld name="3 Bilder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251520" y="303610"/>
            <a:ext cx="864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1" name="Google Shape;211;p37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3" name="Google Shape;213;p37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37"/>
          <p:cNvSpPr/>
          <p:nvPr>
            <p:ph idx="2" type="pic"/>
          </p:nvPr>
        </p:nvSpPr>
        <p:spPr>
          <a:xfrm>
            <a:off x="251100" y="1140618"/>
            <a:ext cx="2808000" cy="24570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251100" y="3676286"/>
            <a:ext cx="28080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6" name="Google Shape;216;p37"/>
          <p:cNvSpPr/>
          <p:nvPr>
            <p:ph idx="3" type="pic"/>
          </p:nvPr>
        </p:nvSpPr>
        <p:spPr>
          <a:xfrm>
            <a:off x="3168156" y="1140619"/>
            <a:ext cx="2808000" cy="24570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7"/>
          <p:cNvSpPr txBox="1"/>
          <p:nvPr>
            <p:ph idx="4" type="body"/>
          </p:nvPr>
        </p:nvSpPr>
        <p:spPr>
          <a:xfrm>
            <a:off x="3164399" y="3676287"/>
            <a:ext cx="28080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8" name="Google Shape;218;p37"/>
          <p:cNvSpPr/>
          <p:nvPr>
            <p:ph idx="5" type="pic"/>
          </p:nvPr>
        </p:nvSpPr>
        <p:spPr>
          <a:xfrm>
            <a:off x="6084480" y="1143205"/>
            <a:ext cx="2808000" cy="24570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7"/>
          <p:cNvSpPr txBox="1"/>
          <p:nvPr>
            <p:ph idx="6" type="body"/>
          </p:nvPr>
        </p:nvSpPr>
        <p:spPr>
          <a:xfrm>
            <a:off x="6085800" y="3678873"/>
            <a:ext cx="28080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(gross)">
  <p:cSld name="Bild (gross)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" name="Google Shape;224;p38"/>
          <p:cNvSpPr/>
          <p:nvPr>
            <p:ph idx="2" type="pic"/>
          </p:nvPr>
        </p:nvSpPr>
        <p:spPr>
          <a:xfrm>
            <a:off x="251100" y="251100"/>
            <a:ext cx="8641500" cy="38340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251100" y="4166100"/>
            <a:ext cx="8641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9845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3pPr>
            <a:lvl4pPr indent="-29845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(Vollfläche)" showMasterSp="0">
  <p:cSld name="Bild (Vollfläche)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40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1" name="Google Shape;231;p40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1520" y="303610"/>
            <a:ext cx="864096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  <a:defRPr b="1" i="0" sz="17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1520" y="1140620"/>
            <a:ext cx="864096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251100" y="4839891"/>
            <a:ext cx="8641380" cy="11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251520" y="303610"/>
            <a:ext cx="864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  <a:defRPr b="1" i="0" sz="17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251520" y="1140620"/>
            <a:ext cx="86409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27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27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7" name="Google Shape;147;p27"/>
          <p:cNvCxnSpPr/>
          <p:nvPr/>
        </p:nvCxnSpPr>
        <p:spPr>
          <a:xfrm>
            <a:off x="251100" y="4839891"/>
            <a:ext cx="8641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ctrTitle"/>
          </p:nvPr>
        </p:nvSpPr>
        <p:spPr>
          <a:xfrm>
            <a:off x="629100" y="1032272"/>
            <a:ext cx="5571192" cy="78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eorgia"/>
              <a:buNone/>
            </a:pPr>
            <a:r>
              <a:rPr lang="en-GB"/>
              <a:t>Differential Privacy for Medical RAG Embeddings</a:t>
            </a:r>
            <a:endParaRPr/>
          </a:p>
        </p:txBody>
      </p:sp>
      <p:sp>
        <p:nvSpPr>
          <p:cNvPr id="237" name="Google Shape;237;p41"/>
          <p:cNvSpPr txBox="1"/>
          <p:nvPr>
            <p:ph idx="1" type="subTitle"/>
          </p:nvPr>
        </p:nvSpPr>
        <p:spPr>
          <a:xfrm>
            <a:off x="629100" y="2089269"/>
            <a:ext cx="6800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GB"/>
              <a:t>Central vs. Local vs. Metric DP, a three-way comparison on medical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i="1"/>
          </a:p>
        </p:txBody>
      </p:sp>
      <p:sp>
        <p:nvSpPr>
          <p:cNvPr id="238" name="Google Shape;238;p41"/>
          <p:cNvSpPr txBox="1"/>
          <p:nvPr/>
        </p:nvSpPr>
        <p:spPr>
          <a:xfrm>
            <a:off x="628650" y="3518675"/>
            <a:ext cx="7224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Victor Okoroafor, Ifeanyi Omonigho Odugo, Gopal Krishna, Niramay Roopesh Kolalle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100">
                <a:solidFill>
                  <a:schemeClr val="dk1"/>
                </a:solidFill>
              </a:rPr>
              <a:t>Privacy-Preserving Methods for Data Science and Distributed Systems, University of Basel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Motivation: embeddings are not anonymisation</a:t>
            </a:r>
            <a:endParaRPr/>
          </a:p>
        </p:txBody>
      </p:sp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1871100" y="1142100"/>
            <a:ext cx="5400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What happens when an adversary gets access to the embeddings?</a:t>
            </a:r>
            <a:endParaRPr/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89% of patient names recoverable.</a:t>
            </a:r>
            <a:r>
              <a:rPr lang="en-GB"/>
              <a:t> Morris et al. (2023) inverted dense embeddings of MIMIC-III clinical text back to identifiable content.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In a regulated health setting, storing embeddings is impractical without protection at the embedding layer.</a:t>
            </a:r>
            <a:endParaRPr/>
          </a:p>
        </p:txBody>
      </p:sp>
      <p:sp>
        <p:nvSpPr>
          <p:cNvPr id="245" name="Google Shape;245;p42"/>
          <p:cNvSpPr/>
          <p:nvPr/>
        </p:nvSpPr>
        <p:spPr>
          <a:xfrm>
            <a:off x="341963" y="3533500"/>
            <a:ext cx="1499700" cy="514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8C91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2D373C"/>
                </a:solidFill>
                <a:latin typeface="Arial"/>
                <a:ea typeface="Arial"/>
                <a:cs typeface="Arial"/>
                <a:sym typeface="Arial"/>
              </a:rPr>
              <a:t>Clinical documents</a:t>
            </a:r>
            <a:endParaRPr sz="1100"/>
          </a:p>
        </p:txBody>
      </p:sp>
      <p:sp>
        <p:nvSpPr>
          <p:cNvPr id="246" name="Google Shape;246;p42"/>
          <p:cNvSpPr/>
          <p:nvPr/>
        </p:nvSpPr>
        <p:spPr>
          <a:xfrm>
            <a:off x="1867829" y="3728953"/>
            <a:ext cx="187500" cy="12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919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2"/>
          <p:cNvSpPr/>
          <p:nvPr/>
        </p:nvSpPr>
        <p:spPr>
          <a:xfrm>
            <a:off x="2081609" y="3533500"/>
            <a:ext cx="1499700" cy="514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8C91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2D373C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endParaRPr sz="1100"/>
          </a:p>
        </p:txBody>
      </p:sp>
      <p:sp>
        <p:nvSpPr>
          <p:cNvPr id="248" name="Google Shape;248;p42"/>
          <p:cNvSpPr/>
          <p:nvPr/>
        </p:nvSpPr>
        <p:spPr>
          <a:xfrm>
            <a:off x="3607475" y="3728953"/>
            <a:ext cx="187500" cy="12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919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3821255" y="3533500"/>
            <a:ext cx="1499700" cy="514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2225">
            <a:solidFill>
              <a:srgbClr val="D20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D20537"/>
                </a:solidFill>
                <a:latin typeface="Arial"/>
                <a:ea typeface="Arial"/>
                <a:cs typeface="Arial"/>
                <a:sym typeface="Arial"/>
              </a:rPr>
              <a:t>Vector database</a:t>
            </a:r>
            <a:endParaRPr sz="1100"/>
          </a:p>
        </p:txBody>
      </p:sp>
      <p:sp>
        <p:nvSpPr>
          <p:cNvPr id="250" name="Google Shape;250;p42"/>
          <p:cNvSpPr/>
          <p:nvPr/>
        </p:nvSpPr>
        <p:spPr>
          <a:xfrm>
            <a:off x="3708755" y="4077850"/>
            <a:ext cx="17247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800">
                <a:solidFill>
                  <a:srgbClr val="D20537"/>
                </a:solidFill>
                <a:latin typeface="Arial"/>
                <a:ea typeface="Arial"/>
                <a:cs typeface="Arial"/>
                <a:sym typeface="Arial"/>
              </a:rPr>
              <a:t>attack surface</a:t>
            </a:r>
            <a:endParaRPr sz="1100"/>
          </a:p>
        </p:txBody>
      </p:sp>
      <p:sp>
        <p:nvSpPr>
          <p:cNvPr id="251" name="Google Shape;251;p42"/>
          <p:cNvSpPr/>
          <p:nvPr/>
        </p:nvSpPr>
        <p:spPr>
          <a:xfrm>
            <a:off x="5347121" y="3728953"/>
            <a:ext cx="187500" cy="12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919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2"/>
          <p:cNvSpPr/>
          <p:nvPr/>
        </p:nvSpPr>
        <p:spPr>
          <a:xfrm>
            <a:off x="5560900" y="3533500"/>
            <a:ext cx="1499700" cy="514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8C91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2D373C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endParaRPr sz="1100"/>
          </a:p>
        </p:txBody>
      </p:sp>
      <p:sp>
        <p:nvSpPr>
          <p:cNvPr id="253" name="Google Shape;253;p42"/>
          <p:cNvSpPr/>
          <p:nvPr/>
        </p:nvSpPr>
        <p:spPr>
          <a:xfrm>
            <a:off x="7086766" y="3728953"/>
            <a:ext cx="187500" cy="12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C919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7300547" y="3533500"/>
            <a:ext cx="1499700" cy="514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8C91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2D373C"/>
                </a:solidFill>
                <a:latin typeface="Arial"/>
                <a:ea typeface="Arial"/>
                <a:cs typeface="Arial"/>
                <a:sym typeface="Arial"/>
              </a:rPr>
              <a:t>LLM answer</a:t>
            </a:r>
            <a:endParaRPr sz="1100"/>
          </a:p>
        </p:txBody>
      </p:sp>
      <p:sp>
        <p:nvSpPr>
          <p:cNvPr id="255" name="Google Shape;255;p42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256" name="Google Shape;256;p42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257" name="Google Shape;257;p42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Problem statement: three threat axes</a:t>
            </a:r>
            <a:endParaRPr/>
          </a:p>
        </p:txBody>
      </p:sp>
      <p:sp>
        <p:nvSpPr>
          <p:cNvPr id="263" name="Google Shape;263;p43"/>
          <p:cNvSpPr txBox="1"/>
          <p:nvPr>
            <p:ph idx="1" type="body"/>
          </p:nvPr>
        </p:nvSpPr>
        <p:spPr>
          <a:xfrm>
            <a:off x="251100" y="1142100"/>
            <a:ext cx="2808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Membership inference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Is a specific patient record in the corpus?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LiRA, TPR at 0.1% FPR</a:t>
            </a:r>
            <a:endParaRPr/>
          </a:p>
        </p:txBody>
      </p:sp>
      <p:sp>
        <p:nvSpPr>
          <p:cNvPr id="264" name="Google Shape;264;p43"/>
          <p:cNvSpPr txBox="1"/>
          <p:nvPr>
            <p:ph idx="3" type="body"/>
          </p:nvPr>
        </p:nvSpPr>
        <p:spPr>
          <a:xfrm>
            <a:off x="3167100" y="1140620"/>
            <a:ext cx="2808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Embedding inversion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Reconstruct source text from a stored embedding?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ROUGE-L reconstruction fidelity</a:t>
            </a:r>
            <a:endParaRPr/>
          </a:p>
        </p:txBody>
      </p:sp>
      <p:sp>
        <p:nvSpPr>
          <p:cNvPr id="265" name="Google Shape;265;p43"/>
          <p:cNvSpPr txBox="1"/>
          <p:nvPr>
            <p:ph idx="2" type="body"/>
          </p:nvPr>
        </p:nvSpPr>
        <p:spPr>
          <a:xfrm>
            <a:off x="6083100" y="1140620"/>
            <a:ext cx="2808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Utility degradation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Does protection break retrieval quality?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BERTScore F1 similarity</a:t>
            </a:r>
            <a:endParaRPr/>
          </a:p>
        </p:txBody>
      </p:sp>
      <p:sp>
        <p:nvSpPr>
          <p:cNvPr id="266" name="Google Shape;266;p43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267" name="Google Shape;267;p43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268" name="Google Shape;268;p43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251100" y="303610"/>
            <a:ext cx="8641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The three mechanisms</a:t>
            </a:r>
            <a:endParaRPr/>
          </a:p>
        </p:txBody>
      </p:sp>
      <p:sp>
        <p:nvSpPr>
          <p:cNvPr id="274" name="Google Shape;274;p44"/>
          <p:cNvSpPr txBox="1"/>
          <p:nvPr>
            <p:ph idx="1" type="body"/>
          </p:nvPr>
        </p:nvSpPr>
        <p:spPr>
          <a:xfrm>
            <a:off x="251100" y="1142100"/>
            <a:ext cx="2808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Central DP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Isotropic noise on the full 384-d embedding.</a:t>
            </a:r>
            <a:endParaRPr/>
          </a:p>
        </p:txBody>
      </p:sp>
      <p:sp>
        <p:nvSpPr>
          <p:cNvPr id="275" name="Google Shape;275;p44"/>
          <p:cNvSpPr txBox="1"/>
          <p:nvPr>
            <p:ph idx="3" type="body"/>
          </p:nvPr>
        </p:nvSpPr>
        <p:spPr>
          <a:xfrm>
            <a:off x="3167100" y="1140620"/>
            <a:ext cx="2808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Local DP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Project to a 16-d bottleneck, add noise, then decode back.</a:t>
            </a:r>
            <a:endParaRPr/>
          </a:p>
        </p:txBody>
      </p:sp>
      <p:sp>
        <p:nvSpPr>
          <p:cNvPr id="276" name="Google Shape;276;p44"/>
          <p:cNvSpPr txBox="1"/>
          <p:nvPr>
            <p:ph idx="2" type="body"/>
          </p:nvPr>
        </p:nvSpPr>
        <p:spPr>
          <a:xfrm>
            <a:off x="6083100" y="1140620"/>
            <a:ext cx="2808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Metric DP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Noise shaped to the local neighbourhood covariance.</a:t>
            </a:r>
            <a:endParaRPr/>
          </a:p>
        </p:txBody>
      </p:sp>
      <p:sp>
        <p:nvSpPr>
          <p:cNvPr id="277" name="Google Shape;277;p44"/>
          <p:cNvSpPr txBox="1"/>
          <p:nvPr>
            <p:ph idx="10" type="dt"/>
          </p:nvPr>
        </p:nvSpPr>
        <p:spPr>
          <a:xfrm>
            <a:off x="251100" y="4893470"/>
            <a:ext cx="2159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278" name="Google Shape;278;p44"/>
          <p:cNvSpPr txBox="1"/>
          <p:nvPr>
            <p:ph idx="11" type="ftr"/>
          </p:nvPr>
        </p:nvSpPr>
        <p:spPr>
          <a:xfrm>
            <a:off x="6840512" y="4894008"/>
            <a:ext cx="19083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279" name="Google Shape;279;p44"/>
          <p:cNvSpPr txBox="1"/>
          <p:nvPr>
            <p:ph idx="12" type="sldNum"/>
          </p:nvPr>
        </p:nvSpPr>
        <p:spPr>
          <a:xfrm>
            <a:off x="8748724" y="4894008"/>
            <a:ext cx="143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0" name="Google Shape;28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25" y="1985012"/>
            <a:ext cx="1351925" cy="97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1825" y="2001525"/>
            <a:ext cx="1124564" cy="9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3025" y="1985000"/>
            <a:ext cx="1538500" cy="9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Experimental setup</a:t>
            </a:r>
            <a:endParaRPr/>
          </a:p>
        </p:txBody>
      </p:sp>
      <p:sp>
        <p:nvSpPr>
          <p:cNvPr id="288" name="Google Shape;288;p45"/>
          <p:cNvSpPr txBox="1"/>
          <p:nvPr>
            <p:ph idx="1" type="body"/>
          </p:nvPr>
        </p:nvSpPr>
        <p:spPr>
          <a:xfrm>
            <a:off x="1871100" y="1142100"/>
            <a:ext cx="5400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Dataset:</a:t>
            </a:r>
            <a:r>
              <a:rPr lang="en-GB"/>
              <a:t> ChatDoctor-HealthCareMagic, 5,000 rows (capped from 112k).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Encoder:</a:t>
            </a:r>
            <a:r>
              <a:rPr lang="en-GB"/>
              <a:t> all-MiniLM-L6-v2, 384-d Sentence-BERT, frozen.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Retrieval:</a:t>
            </a:r>
            <a:r>
              <a:rPr lang="en-GB"/>
              <a:t> FAISS nearest-neighbour index, simulates RAG.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Privacy sweep:</a:t>
            </a:r>
            <a:r>
              <a:rPr lang="en-GB"/>
              <a:t> ε ∈ {0.1, 1.0, 5.0, 10.0}, δ = 1e-5.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Repetitions:</a:t>
            </a:r>
            <a:r>
              <a:rPr lang="en-GB"/>
              <a:t> 5 noise realisations, seeds 0 to 4, mean ± 1 SD.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Baseline:</a:t>
            </a:r>
            <a:r>
              <a:rPr lang="en-GB"/>
              <a:t> ε = ∞, no noise, reference on every axis.</a:t>
            </a:r>
            <a:endParaRPr/>
          </a:p>
        </p:txBody>
      </p:sp>
      <p:sp>
        <p:nvSpPr>
          <p:cNvPr id="289" name="Google Shape;289;p45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290" name="Google Shape;290;p45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291" name="Google Shape;291;p45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Membership inference: all three suppress leakage</a:t>
            </a:r>
            <a:endParaRPr/>
          </a:p>
        </p:txBody>
      </p:sp>
      <p:sp>
        <p:nvSpPr>
          <p:cNvPr id="297" name="Google Shape;297;p46"/>
          <p:cNvSpPr txBox="1"/>
          <p:nvPr>
            <p:ph idx="1" type="body"/>
          </p:nvPr>
        </p:nvSpPr>
        <p:spPr>
          <a:xfrm>
            <a:off x="4869180" y="1097280"/>
            <a:ext cx="406908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Baseline TPR = 0.0017.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Central DP:</a:t>
            </a:r>
            <a:r>
              <a:rPr lang="en-GB"/>
              <a:t> TPR = 0.000 at every ε.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Local DP:</a:t>
            </a:r>
            <a:r>
              <a:rPr lang="en-GB"/>
              <a:t> TPR ≈ 0.001, well below baseline.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Metric DP:</a:t>
            </a:r>
            <a:r>
              <a:rPr lang="en-GB"/>
              <a:t> 0.000 at low ε, rising only to ≈ 0.0017 at ε = 10.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LiRA and an independent k-NN distance-ratio attack agree: near-zero TPR under Central DP.</a:t>
            </a:r>
            <a:endParaRPr/>
          </a:p>
        </p:txBody>
      </p:sp>
      <p:pic>
        <p:nvPicPr>
          <p:cNvPr id="298" name="Google Shape;29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165860"/>
            <a:ext cx="4388644" cy="286652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6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00" name="Google Shape;300;p46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01" name="Google Shape;301;p46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7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Embedding inversion: the headline privacy signal</a:t>
            </a:r>
            <a:endParaRPr/>
          </a:p>
        </p:txBody>
      </p:sp>
      <p:sp>
        <p:nvSpPr>
          <p:cNvPr id="307" name="Google Shape;307;p47"/>
          <p:cNvSpPr txBox="1"/>
          <p:nvPr>
            <p:ph idx="1" type="body"/>
          </p:nvPr>
        </p:nvSpPr>
        <p:spPr>
          <a:xfrm>
            <a:off x="4869180" y="1097280"/>
            <a:ext cx="406908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Baseline ROUGE-L = 1.000.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Central and Local DP:</a:t>
            </a:r>
            <a:r>
              <a:rPr lang="en-GB"/>
              <a:t> drop to ≈ 0.21 and stay flat across all ε. The cliff.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20537"/>
              </a:buClr>
              <a:buSzPts val="1400"/>
              <a:buChar char="–"/>
            </a:pPr>
            <a:r>
              <a:rPr b="1" lang="en-GB">
                <a:solidFill>
                  <a:srgbClr val="D20537"/>
                </a:solidFill>
              </a:rPr>
              <a:t>Metric DP collapses:</a:t>
            </a:r>
            <a:r>
              <a:rPr lang="en-GB"/>
              <a:t> 0.238, 0.257, ≈ 0.58, 0.950 across ε = 0.1, 1, 5, 10.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At ε = 10, an adversary reconstructs 95% of the lexical content from the embedding alone.</a:t>
            </a:r>
            <a:endParaRPr/>
          </a:p>
        </p:txBody>
      </p:sp>
      <p:pic>
        <p:nvPicPr>
          <p:cNvPr id="308" name="Google Shape;30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165860"/>
            <a:ext cx="4388644" cy="286652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7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10" name="Google Shape;310;p47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11" name="Google Shape;311;p47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8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The Metric DP failure mode</a:t>
            </a:r>
            <a:endParaRPr/>
          </a:p>
        </p:txBody>
      </p:sp>
      <p:sp>
        <p:nvSpPr>
          <p:cNvPr id="317" name="Google Shape;317;p48"/>
          <p:cNvSpPr txBox="1"/>
          <p:nvPr>
            <p:ph idx="1" type="body"/>
          </p:nvPr>
        </p:nvSpPr>
        <p:spPr>
          <a:xfrm>
            <a:off x="205740" y="1097280"/>
            <a:ext cx="4388644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Safe at tight budgets, collapses at loose ones.</a:t>
            </a:r>
            <a:endParaRPr/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At ε = 0.1, Metric DP matches Central DP. At ε = 10, inversion ROUGE-L reaches 0.950.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Why:</a:t>
            </a:r>
            <a:r>
              <a:rPr lang="en-GB"/>
              <a:t> at </a:t>
            </a:r>
            <a:r>
              <a:rPr lang="en-GB"/>
              <a:t>large ε,</a:t>
            </a:r>
            <a:r>
              <a:rPr lang="en-GB"/>
              <a:t> the noise falls below the encoder's </a:t>
            </a:r>
            <a:r>
              <a:rPr lang="en-GB"/>
              <a:t>neighbourhood</a:t>
            </a:r>
            <a:r>
              <a:rPr lang="en-GB"/>
              <a:t> radius, and the Mahalanobis scaling no longer hides the point.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Novelty:</a:t>
            </a:r>
            <a:r>
              <a:rPr lang="en-GB"/>
              <a:t> prior work evaluated only low-ε regimes, so this failure was not previously documented.</a:t>
            </a:r>
            <a:endParaRPr/>
          </a:p>
        </p:txBody>
      </p:sp>
      <p:graphicFrame>
        <p:nvGraphicFramePr>
          <p:cNvPr id="318" name="Google Shape;318;p48"/>
          <p:cNvGraphicFramePr/>
          <p:nvPr/>
        </p:nvGraphicFramePr>
        <p:xfrm>
          <a:off x="4869180" y="1165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{B41C9F62-F332-4EA4-8CF7-E61C887B0957}</a:tableStyleId>
              </a:tblPr>
              <a:tblGrid>
                <a:gridCol w="1125000"/>
                <a:gridCol w="1472025"/>
                <a:gridCol w="1472025"/>
              </a:tblGrid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ε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Inversion ROUGE-L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BERTScore F1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0.1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0.238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0.843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1.0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0.257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0.850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5.0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~0.575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~0.915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10.0</a:t>
                      </a:r>
                      <a:endParaRPr sz="1100"/>
                    </a:p>
                  </a:txBody>
                  <a:tcPr marT="13500" marB="13500" marR="27000" marL="27000" anchor="ctr">
                    <a:solidFill>
                      <a:srgbClr val="D205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0.950</a:t>
                      </a:r>
                      <a:endParaRPr sz="1100"/>
                    </a:p>
                  </a:txBody>
                  <a:tcPr marT="13500" marB="13500" marR="27000" marL="27000" anchor="ctr">
                    <a:solidFill>
                      <a:srgbClr val="D205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0.991</a:t>
                      </a:r>
                      <a:endParaRPr sz="1100"/>
                    </a:p>
                  </a:txBody>
                  <a:tcPr marT="13500" marB="13500" marR="27000" marL="27000" anchor="ctr">
                    <a:solidFill>
                      <a:srgbClr val="D20537"/>
                    </a:solidFill>
                  </a:tcPr>
                </a:tc>
              </a:tr>
            </a:tbl>
          </a:graphicData>
        </a:graphic>
      </p:graphicFrame>
      <p:sp>
        <p:nvSpPr>
          <p:cNvPr id="319" name="Google Shape;319;p48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20" name="Google Shape;320;p48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21" name="Google Shape;321;p48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Linear probe inversion: a second, learned attack</a:t>
            </a:r>
            <a:endParaRPr/>
          </a:p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4869180" y="1097280"/>
            <a:ext cx="406908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A trained probe maps noisy embeddings to bag-of-words tokens. Lower scale, baseline ≈ 0.099.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Central DP:</a:t>
            </a:r>
            <a:r>
              <a:rPr lang="en-GB"/>
              <a:t> lowest and flat (≈ 0.031). Hardest to invert.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Local DP:</a:t>
            </a:r>
            <a:r>
              <a:rPr lang="en-GB"/>
              <a:t> highest (≈ 0.090). The bottleneck retains more token content.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Metric DP:</a:t>
            </a:r>
            <a:r>
              <a:rPr lang="en-GB"/>
              <a:t> rises with ε (0.034 to 0.091).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Confirms Metric's leak grows and Central is most resistant. It does not reproduce the 0.95 collapse.</a:t>
            </a:r>
            <a:endParaRPr/>
          </a:p>
        </p:txBody>
      </p:sp>
      <p:pic>
        <p:nvPicPr>
          <p:cNvPr id="328" name="Google Shape;32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165860"/>
            <a:ext cx="4388644" cy="286652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9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30" name="Google Shape;330;p49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31" name="Google Shape;331;p49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Utility: a flat curve, under 2% loss</a:t>
            </a:r>
            <a:endParaRPr/>
          </a:p>
        </p:txBody>
      </p:sp>
      <p:sp>
        <p:nvSpPr>
          <p:cNvPr id="337" name="Google Shape;337;p50"/>
          <p:cNvSpPr txBox="1"/>
          <p:nvPr>
            <p:ph idx="1" type="body"/>
          </p:nvPr>
        </p:nvSpPr>
        <p:spPr>
          <a:xfrm>
            <a:off x="4869180" y="1097280"/>
            <a:ext cx="406908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Baseline F1 = 1.000.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Metric DP:</a:t>
            </a:r>
            <a:r>
              <a:rPr lang="en-GB"/>
              <a:t> utility rises with ε, 0.843 to 0.991.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Central and Local DP:</a:t>
            </a:r>
            <a:r>
              <a:rPr lang="en-GB"/>
              <a:t> flat at 0.831 to 0.833 across the whole range.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Under 2% utility loss from baseline, even at the strongest privacy budget.</a:t>
            </a:r>
            <a:endParaRPr/>
          </a:p>
        </p:txBody>
      </p:sp>
      <p:pic>
        <p:nvPicPr>
          <p:cNvPr id="338" name="Google Shape;33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165860"/>
            <a:ext cx="4388644" cy="286652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40" name="Google Shape;340;p50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41" name="Google Shape;341;p50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The threshold effect: a threshold, not a tradeoff</a:t>
            </a:r>
            <a:endParaRPr/>
          </a:p>
        </p:txBody>
      </p:sp>
      <p:sp>
        <p:nvSpPr>
          <p:cNvPr id="347" name="Google Shape;347;p51"/>
          <p:cNvSpPr txBox="1"/>
          <p:nvPr>
            <p:ph idx="1" type="body"/>
          </p:nvPr>
        </p:nvSpPr>
        <p:spPr>
          <a:xfrm>
            <a:off x="1871100" y="1142100"/>
            <a:ext cx="5400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Standard DP theory predicts a monotonic tradeoff: smaller ε, more noise, less utility.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Central and Local DP are ε-invariant across [0.1, 10] on all three metrics.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Interpretation:</a:t>
            </a:r>
            <a:r>
              <a:rPr lang="en-GB"/>
              <a:t> once Gaussian noise exceeds the encoder's neighbourhood radius, retrieval saturates at a fixed floor.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The expected tradeoff would only appear below ε = 0.1. Consistent with Du et al. (2023): a 16-d projection already suffices.</a:t>
            </a:r>
            <a:endParaRPr/>
          </a:p>
        </p:txBody>
      </p:sp>
      <p:sp>
        <p:nvSpPr>
          <p:cNvPr id="348" name="Google Shape;348;p51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49" name="Google Shape;349;p51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50" name="Google Shape;350;p51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/>
          <p:nvPr>
            <p:ph type="title"/>
          </p:nvPr>
        </p:nvSpPr>
        <p:spPr>
          <a:xfrm>
            <a:off x="251520" y="303610"/>
            <a:ext cx="864096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Three-way comparison: ε = 1.0 and ε = 10.0</a:t>
            </a:r>
            <a:endParaRPr/>
          </a:p>
        </p:txBody>
      </p:sp>
      <p:graphicFrame>
        <p:nvGraphicFramePr>
          <p:cNvPr id="356" name="Google Shape;356;p52"/>
          <p:cNvGraphicFramePr/>
          <p:nvPr/>
        </p:nvGraphicFramePr>
        <p:xfrm>
          <a:off x="251223" y="11406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{B41C9F62-F332-4EA4-8CF7-E61C887B0957}</a:tableStyleId>
              </a:tblPr>
              <a:tblGrid>
                <a:gridCol w="3306275"/>
                <a:gridCol w="1778400"/>
                <a:gridCol w="1778400"/>
                <a:gridCol w="1778400"/>
              </a:tblGrid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Mechanism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BERT F1 (utility)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LiRA TPR @ 0.1% FPR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ROUGE-L (inversion)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/>
                        <a:t>Baseline (ε = ∞)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1.000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0.0017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1.000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/>
                        <a:t>Central DP (ε = 1.0)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0.831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0.000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0.209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/>
                        <a:t>Central DP (ε = 10.0)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0.833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0.000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0.214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/>
                        <a:t>Local DP (ε = 1.0)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0.831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0.001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0.210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/>
                        <a:t>Local DP (ε = 10.0)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0.831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0.001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0.208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/>
                        <a:t>Metric DP (ε = 1.0)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0.850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0.000</a:t>
                      </a:r>
                      <a:endParaRPr sz="1100"/>
                    </a:p>
                  </a:txBody>
                  <a:tcPr marT="13500" marB="13500" marR="27000" marL="27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0.257</a:t>
                      </a:r>
                      <a:endParaRPr sz="1100"/>
                    </a:p>
                  </a:txBody>
                  <a:tcPr marT="13500" marB="13500" marR="27000" marL="27000" anchor="ctr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Metric DP (ε = 10.0)</a:t>
                      </a:r>
                      <a:endParaRPr sz="1100"/>
                    </a:p>
                  </a:txBody>
                  <a:tcPr marT="13500" marB="13500" marR="27000" marL="27000" anchor="ctr">
                    <a:solidFill>
                      <a:srgbClr val="D205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0.991</a:t>
                      </a:r>
                      <a:endParaRPr sz="1100"/>
                    </a:p>
                  </a:txBody>
                  <a:tcPr marT="13500" marB="13500" marR="27000" marL="27000" anchor="ctr">
                    <a:solidFill>
                      <a:srgbClr val="D205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0.002</a:t>
                      </a:r>
                      <a:endParaRPr sz="1100"/>
                    </a:p>
                  </a:txBody>
                  <a:tcPr marT="13500" marB="13500" marR="27000" marL="27000" anchor="ctr">
                    <a:solidFill>
                      <a:srgbClr val="D205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lt1"/>
                          </a:solidFill>
                        </a:rPr>
                        <a:t>0.950</a:t>
                      </a:r>
                      <a:endParaRPr sz="1100"/>
                    </a:p>
                  </a:txBody>
                  <a:tcPr marT="13500" marB="13500" marR="27000" marL="27000" anchor="ctr">
                    <a:solidFill>
                      <a:srgbClr val="D20537"/>
                    </a:solidFill>
                  </a:tcPr>
                </a:tc>
              </a:tr>
            </a:tbl>
          </a:graphicData>
        </a:graphic>
      </p:graphicFrame>
      <p:sp>
        <p:nvSpPr>
          <p:cNvPr id="357" name="Google Shape;357;p52"/>
          <p:cNvSpPr/>
          <p:nvPr/>
        </p:nvSpPr>
        <p:spPr>
          <a:xfrm>
            <a:off x="251223" y="4237500"/>
            <a:ext cx="8641556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D20537"/>
                </a:solidFill>
                <a:latin typeface="Arial"/>
                <a:ea typeface="Arial"/>
                <a:cs typeface="Arial"/>
                <a:sym typeface="Arial"/>
              </a:rPr>
              <a:t>The highlighted row: near-baseline utility bought at the price of near-complete reconstruction.</a:t>
            </a:r>
            <a:endParaRPr sz="1100"/>
          </a:p>
        </p:txBody>
      </p:sp>
      <p:sp>
        <p:nvSpPr>
          <p:cNvPr id="358" name="Google Shape;358;p52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59" name="Google Shape;359;p52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60" name="Google Shape;360;p52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Practical recommendation</a:t>
            </a:r>
            <a:endParaRPr/>
          </a:p>
        </p:txBody>
      </p:sp>
      <p:sp>
        <p:nvSpPr>
          <p:cNvPr id="366" name="Google Shape;366;p53"/>
          <p:cNvSpPr txBox="1"/>
          <p:nvPr>
            <p:ph idx="1" type="body"/>
          </p:nvPr>
        </p:nvSpPr>
        <p:spPr>
          <a:xfrm>
            <a:off x="1871100" y="1142100"/>
            <a:ext cx="5400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Use Central DP for medical RAG.</a:t>
            </a:r>
            <a:r>
              <a:rPr lang="en-GB"/>
              <a:t> Inversion resistance ≈ 0.21 and zero MIA success across the full ε range, under 2% utility loss.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ε choice is operationally free within [0.1, 10].</a:t>
            </a:r>
            <a:r>
              <a:rPr lang="en-GB"/>
              <a:t> Protection is ε-invariant, so there is no ε-tuning burden.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20537"/>
              </a:buClr>
              <a:buSzPts val="1400"/>
              <a:buChar char="–"/>
            </a:pPr>
            <a:r>
              <a:rPr b="1" lang="en-GB">
                <a:solidFill>
                  <a:srgbClr val="D20537"/>
                </a:solidFill>
              </a:rPr>
              <a:t>Never deploy Metric DP at ε ≥ 5 on sensitive corpora.</a:t>
            </a:r>
            <a:r>
              <a:rPr lang="en-GB"/>
              <a:t> Risk of text reconstruction is unacceptable under HIPAA or GDPR.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Clinically:</a:t>
            </a:r>
            <a:r>
              <a:rPr lang="en-GB"/>
              <a:t> at ε = 1.0, 1,000 membership queries identify zero patient records at 0.1% FPR. The unprotected baseline exposes about 2.</a:t>
            </a:r>
            <a:endParaRPr/>
          </a:p>
        </p:txBody>
      </p:sp>
      <p:sp>
        <p:nvSpPr>
          <p:cNvPr id="367" name="Google Shape;367;p53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68" name="Google Shape;368;p53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69" name="Google Shape;369;p53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4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Limitations</a:t>
            </a:r>
            <a:endParaRPr/>
          </a:p>
        </p:txBody>
      </p:sp>
      <p:sp>
        <p:nvSpPr>
          <p:cNvPr id="375" name="Google Shape;375;p54"/>
          <p:cNvSpPr txBox="1"/>
          <p:nvPr>
            <p:ph idx="1" type="body"/>
          </p:nvPr>
        </p:nvSpPr>
        <p:spPr>
          <a:xfrm>
            <a:off x="1871100" y="1142100"/>
            <a:ext cx="5400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LiRA adaptation.</a:t>
            </a:r>
            <a:r>
              <a:rPr lang="en-GB"/>
              <a:t> Logistic-regression shadow classifiers on raw embeddings; reported TPR is an approximate lower bound.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Single dataset.</a:t>
            </a:r>
            <a:r>
              <a:rPr lang="en-GB"/>
              <a:t> Results are on ChatDoctor-HealthCareMagic only; generalisation is untested.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Encoder is not private.</a:t>
            </a:r>
            <a:r>
              <a:rPr lang="en-GB"/>
              <a:t> The guarantee covers stored embeddings, not the public encoder. White-box threat model.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Metric DP bound.</a:t>
            </a:r>
            <a:r>
              <a:rPr lang="en-GB"/>
              <a:t> A practical local-Mahalanobis approximation; its formal guarantee is not established in the loose-ε regime where it fails.</a:t>
            </a:r>
            <a:endParaRPr/>
          </a:p>
        </p:txBody>
      </p:sp>
      <p:sp>
        <p:nvSpPr>
          <p:cNvPr id="376" name="Google Shape;376;p54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77" name="Google Shape;377;p54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78" name="Google Shape;378;p54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Summary of findings</a:t>
            </a:r>
            <a:endParaRPr/>
          </a:p>
        </p:txBody>
      </p:sp>
      <p:sp>
        <p:nvSpPr>
          <p:cNvPr id="384" name="Google Shape;384;p55"/>
          <p:cNvSpPr txBox="1"/>
          <p:nvPr>
            <p:ph idx="1" type="body"/>
          </p:nvPr>
        </p:nvSpPr>
        <p:spPr>
          <a:xfrm>
            <a:off x="1871100" y="1142100"/>
            <a:ext cx="5400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1. Central and Local DP provide ε-invariant protection.</a:t>
            </a:r>
            <a:r>
              <a:rPr lang="en-GB"/>
              <a:t> Strong inversion resistance and near-zero membership leakage at under 2% utility cost.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2. Metric DP collapses at weak privacy budgets.</a:t>
            </a:r>
            <a:r>
              <a:rPr lang="en-GB"/>
              <a:t> Inversion ROUGE-L 0.950 at ε = 10. First documented occurrence.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3. LiRA and k-NN agree.</a:t>
            </a:r>
            <a:r>
              <a:rPr lang="en-GB"/>
              <a:t> Two independent attacks confirm near-zero membership leakage under Central DP.</a:t>
            </a:r>
            <a:endParaRPr/>
          </a:p>
        </p:txBody>
      </p:sp>
      <p:sp>
        <p:nvSpPr>
          <p:cNvPr id="385" name="Google Shape;385;p55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86" name="Google Shape;386;p55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87" name="Google Shape;387;p55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Why this matters beyond the course</a:t>
            </a:r>
            <a:endParaRPr/>
          </a:p>
        </p:txBody>
      </p:sp>
      <p:sp>
        <p:nvSpPr>
          <p:cNvPr id="393" name="Google Shape;393;p56"/>
          <p:cNvSpPr txBox="1"/>
          <p:nvPr>
            <p:ph idx="1" type="body"/>
          </p:nvPr>
        </p:nvSpPr>
        <p:spPr>
          <a:xfrm>
            <a:off x="1871100" y="1142100"/>
            <a:ext cx="5400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Medical RAG is a live deployment problem. Clinical systems already store consultation text as embeddings.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HIPAA and GDPR compliance hinge on whether stored vectors can be inverted. We show they can be, unless protected correctly.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First empirical three-way comparison of Central, Local, and Metric DP for medical embeddings.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GB"/>
              <a:t>Target venue:</a:t>
            </a:r>
            <a:r>
              <a:rPr lang="en-GB"/>
              <a:t> PoPETs (Privacy Enhancing Technologies Symposium).</a:t>
            </a:r>
            <a:endParaRPr/>
          </a:p>
        </p:txBody>
      </p:sp>
      <p:sp>
        <p:nvSpPr>
          <p:cNvPr id="394" name="Google Shape;394;p56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395" name="Google Shape;395;p56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396" name="Google Shape;396;p56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 txBox="1"/>
          <p:nvPr>
            <p:ph type="title"/>
          </p:nvPr>
        </p:nvSpPr>
        <p:spPr>
          <a:xfrm>
            <a:off x="251100" y="303610"/>
            <a:ext cx="8641380" cy="56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None/>
            </a:pPr>
            <a:r>
              <a:rPr b="1" lang="en-GB"/>
              <a:t>Future work</a:t>
            </a:r>
            <a:endParaRPr/>
          </a:p>
        </p:txBody>
      </p:sp>
      <p:sp>
        <p:nvSpPr>
          <p:cNvPr id="402" name="Google Shape;402;p57"/>
          <p:cNvSpPr txBox="1"/>
          <p:nvPr>
            <p:ph idx="1" type="body"/>
          </p:nvPr>
        </p:nvSpPr>
        <p:spPr>
          <a:xfrm>
            <a:off x="251100" y="1142100"/>
            <a:ext cx="2808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Stronger MIA baseline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A k-NN distance-ratio attack on raw embeddings within LiRA, for a tighter bound.</a:t>
            </a:r>
            <a:endParaRPr/>
          </a:p>
        </p:txBody>
      </p:sp>
      <p:sp>
        <p:nvSpPr>
          <p:cNvPr id="403" name="Google Shape;403;p57"/>
          <p:cNvSpPr txBox="1"/>
          <p:nvPr>
            <p:ph idx="3" type="body"/>
          </p:nvPr>
        </p:nvSpPr>
        <p:spPr>
          <a:xfrm>
            <a:off x="3167100" y="1140620"/>
            <a:ext cx="2808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Vec2Text inversion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Sequence-level inversion to quantify recoverable semantic content beyond ROUGE-L.</a:t>
            </a:r>
            <a:endParaRPr/>
          </a:p>
        </p:txBody>
      </p:sp>
      <p:sp>
        <p:nvSpPr>
          <p:cNvPr id="404" name="Google Shape;404;p57"/>
          <p:cNvSpPr txBox="1"/>
          <p:nvPr>
            <p:ph idx="2" type="body"/>
          </p:nvPr>
        </p:nvSpPr>
        <p:spPr>
          <a:xfrm>
            <a:off x="6083100" y="1140620"/>
            <a:ext cx="2808000" cy="3537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/>
              <a:t>DP-SGD encoder</a:t>
            </a:r>
            <a:endParaRPr/>
          </a:p>
          <a:p>
            <a:pPr indent="-139700" lvl="1" marL="1397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/>
              <a:t>Privatize</a:t>
            </a:r>
            <a:r>
              <a:rPr lang="en-GB"/>
              <a:t> the encoder itself to </a:t>
            </a:r>
            <a:r>
              <a:rPr lang="en-GB"/>
              <a:t>characterize</a:t>
            </a:r>
            <a:r>
              <a:rPr lang="en-GB"/>
              <a:t> the privacy cost and utility gain.</a:t>
            </a:r>
            <a:endParaRPr/>
          </a:p>
        </p:txBody>
      </p:sp>
      <p:sp>
        <p:nvSpPr>
          <p:cNvPr id="405" name="Google Shape;405;p57"/>
          <p:cNvSpPr txBox="1"/>
          <p:nvPr>
            <p:ph idx="10" type="dt"/>
          </p:nvPr>
        </p:nvSpPr>
        <p:spPr>
          <a:xfrm>
            <a:off x="251100" y="4893470"/>
            <a:ext cx="2159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Privacy for Medical RAG</a:t>
            </a:r>
            <a:endParaRPr/>
          </a:p>
        </p:txBody>
      </p:sp>
      <p:sp>
        <p:nvSpPr>
          <p:cNvPr id="406" name="Google Shape;406;p57"/>
          <p:cNvSpPr txBox="1"/>
          <p:nvPr>
            <p:ph idx="11" type="ftr"/>
          </p:nvPr>
        </p:nvSpPr>
        <p:spPr>
          <a:xfrm>
            <a:off x="6840512" y="4894008"/>
            <a:ext cx="1908212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Universität Basel</a:t>
            </a:r>
            <a:endParaRPr/>
          </a:p>
        </p:txBody>
      </p:sp>
      <p:sp>
        <p:nvSpPr>
          <p:cNvPr id="407" name="Google Shape;407;p57"/>
          <p:cNvSpPr txBox="1"/>
          <p:nvPr>
            <p:ph idx="12" type="sldNum"/>
          </p:nvPr>
        </p:nvSpPr>
        <p:spPr>
          <a:xfrm>
            <a:off x="8748724" y="4894008"/>
            <a:ext cx="143756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8"/>
          <p:cNvSpPr txBox="1"/>
          <p:nvPr>
            <p:ph type="ctrTitle"/>
          </p:nvPr>
        </p:nvSpPr>
        <p:spPr>
          <a:xfrm>
            <a:off x="629100" y="1032272"/>
            <a:ext cx="5571192" cy="78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eorgia"/>
              <a:buNone/>
            </a:pPr>
            <a:r>
              <a:rPr lang="en-GB"/>
              <a:t>Thank you. Questions?</a:t>
            </a:r>
            <a:endParaRPr/>
          </a:p>
        </p:txBody>
      </p:sp>
      <p:sp>
        <p:nvSpPr>
          <p:cNvPr id="413" name="Google Shape;413;p58"/>
          <p:cNvSpPr txBox="1"/>
          <p:nvPr>
            <p:ph idx="1" type="subTitle"/>
          </p:nvPr>
        </p:nvSpPr>
        <p:spPr>
          <a:xfrm>
            <a:off x="629100" y="1923678"/>
            <a:ext cx="6800850" cy="243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GB"/>
              <a:t>Repository: </a:t>
            </a:r>
            <a:r>
              <a:rPr b="1" lang="en-GB"/>
              <a:t>github.com/VictorChibueze-stud/med-rag-privacy-eval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/>
              <a:t>Victor Okoroafor, Ifeanyi Omonigho Odugo, Gopal Krishna, Niramay Roopesh Kolalle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_basel_V04_de">
  <a:themeElements>
    <a:clrScheme name="Uni Basel">
      <a:dk1>
        <a:srgbClr val="000000"/>
      </a:dk1>
      <a:lt1>
        <a:srgbClr val="FFFFFF"/>
      </a:lt1>
      <a:dk2>
        <a:srgbClr val="006E6E"/>
      </a:dk2>
      <a:lt2>
        <a:srgbClr val="BEC3C8"/>
      </a:lt2>
      <a:accent1>
        <a:srgbClr val="A5D7D2"/>
      </a:accent1>
      <a:accent2>
        <a:srgbClr val="1EA5A5"/>
      </a:accent2>
      <a:accent3>
        <a:srgbClr val="2D373C"/>
      </a:accent3>
      <a:accent4>
        <a:srgbClr val="8C9196"/>
      </a:accent4>
      <a:accent5>
        <a:srgbClr val="D20537"/>
      </a:accent5>
      <a:accent6>
        <a:srgbClr val="EB829B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uni_basel_V04_de">
  <a:themeElements>
    <a:clrScheme name="Uni Basel">
      <a:dk1>
        <a:srgbClr val="000000"/>
      </a:dk1>
      <a:lt1>
        <a:srgbClr val="FFFFFF"/>
      </a:lt1>
      <a:dk2>
        <a:srgbClr val="006E6E"/>
      </a:dk2>
      <a:lt2>
        <a:srgbClr val="BEC3C8"/>
      </a:lt2>
      <a:accent1>
        <a:srgbClr val="A5D7D2"/>
      </a:accent1>
      <a:accent2>
        <a:srgbClr val="1EA5A5"/>
      </a:accent2>
      <a:accent3>
        <a:srgbClr val="2D373C"/>
      </a:accent3>
      <a:accent4>
        <a:srgbClr val="8C9196"/>
      </a:accent4>
      <a:accent5>
        <a:srgbClr val="D20537"/>
      </a:accent5>
      <a:accent6>
        <a:srgbClr val="EB829B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